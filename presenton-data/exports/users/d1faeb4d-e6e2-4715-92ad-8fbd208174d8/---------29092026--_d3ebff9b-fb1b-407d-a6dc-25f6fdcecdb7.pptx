
<file path=[Content_Types].xml><?xml version="1.0" encoding="utf-8"?>
<Types xmlns="http://schemas.openxmlformats.org/package/2006/content-types">
  <Default ContentType="application/vnd.openxmlformats-package.relationships+xml" Extension="rels"/>
  <Default ContentType="application/xml" Extension="xml"/>
  <Default ContentType="image/png" Extension="png"/>
  <Default ContentType="image/jpeg" Extension="jpeg"/>
  <Default ContentType="image/jpeg" Extension="jpg"/>
  <Default ContentType="video/mp4" Extension="mp4"/>
  <Override ContentType="application/vnd.openxmlformats-officedocument.presentationml.presentation.main+xml" PartName="/ppt/presentation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theme+xml" PartName="/ppt/theme/theme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presentationml.tableStyles+xml" PartName="/ppt/tableStyles.xml"/>
  <Override ContentType="application/vnd.openxmlformats-officedocument.presentationml.slide+xml" PartName="/ppt/slides/slide1.xml"/>
  <Override ContentType="application/vnd.openxmlformats-officedocument.presentationml.notesSlide+xml" PartName="/ppt/notesSlides/notesSlide1.xml"/>
  <Override ContentType="application/vnd.openxmlformats-officedocument.presentationml.slide+xml" PartName="/ppt/slides/slide2.xml"/>
  <Override ContentType="application/vnd.openxmlformats-officedocument.presentationml.notesSlide+xml" PartName="/ppt/notesSlides/notesSlide2.xml"/>
  <Override ContentType="application/vnd.openxmlformats-officedocument.presentationml.slide+xml" PartName="/ppt/slides/slide3.xml"/>
  <Override ContentType="application/vnd.openxmlformats-officedocument.presentationml.notesSlide+xml" PartName="/ppt/notesSlides/notesSlide3.xml"/>
  <Override ContentType="application/vnd.openxmlformats-officedocument.presentationml.slide+xml" PartName="/ppt/slides/slide4.xml"/>
  <Override ContentType="application/vnd.openxmlformats-officedocument.presentationml.notesSlide+xml" PartName="/ppt/notesSlides/notesSlide4.xml"/>
  <Override ContentType="application/vnd.openxmlformats-officedocument.presentationml.slide+xml" PartName="/ppt/slides/slide5.xml"/>
  <Override ContentType="application/vnd.openxmlformats-officedocument.presentationml.notesSlide+xml" PartName="/ppt/notesSlides/notesSlide5.xml"/>
  <Override ContentType="application/vnd.openxmlformats-officedocument.presentationml.notesMaster+xml" PartName="/ppt/notesMasters/notesMaster1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theme+xml" PartName="/ppt/theme/theme2.xml"/>
  <Default Extension="svg" ContentType="image/svg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 xmlns:a="http://schemas.openxmlformats.org/drawingml/2006/main">
    <a:defPPr>
      <a:defRPr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>
      <p:cViewPr varScale="1">
        <p:scale>
          <a:sx n="90" d="100"/>
          <a:sy n="90" d="100"/>
        </p:scale>
        <p:origin x="120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notesMaster" Target="notesMasters/notesMaster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hf dt="0" hdr="0" ftr="0" sldNum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600200"/>
            <a:ext cx="5486400" cy="3086100"/>
          </a:xfrm>
        </p:spPr>
      </p:sp>
      <p:sp>
        <p:nvSpPr>
          <p:cNvPr id="3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800600"/>
            <a:ext cx="5486400" cy="3600450"/>
          </a:xfrm>
        </p:spPr>
        <p:txBody>
          <a:bodyPr/>
          <a:lstStyle/>
          <a:p>
            <a:r>
              <a:rPr lang="en-US" dirty="0"/>
              <a:t>На этом слайде кратко объясните основные угрозы: фишинг и социальная инженерия. Расскажите, как они работают, приведите примеры поддельных писем и сайтов. Подчеркните важность двухфакторной аутентификации и поделитесь практическими правилами создания и защиты надежных паролей.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600200"/>
            <a:ext cx="5486400" cy="3086100"/>
          </a:xfrm>
        </p:spPr>
      </p:sp>
      <p:sp>
        <p:nvSpPr>
          <p:cNvPr id="3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800600"/>
            <a:ext cx="5486400" cy="3600450"/>
          </a:xfrm>
        </p:spPr>
        <p:txBody>
          <a:bodyPr/>
          <a:lstStyle/>
          <a:p>
            <a:r>
              <a:rPr lang="en-US" dirty="0"/>
              <a:t>На этом слайде представлены основные разделы содержания: признаки фишинга и примеры действий для защиты; техники социальной инженерии и способы противодействия; зачем нужна и как внедрять двухфакторную аутентификацию; правила создания надежных паролей и хранение их в менеджере.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600200"/>
            <a:ext cx="5486400" cy="3086100"/>
          </a:xfrm>
        </p:spPr>
      </p:sp>
      <p:sp>
        <p:nvSpPr>
          <p:cNvPr id="3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800600"/>
            <a:ext cx="5486400" cy="3600450"/>
          </a:xfrm>
        </p:spPr>
        <p:txBody>
          <a:bodyPr/>
          <a:lstStyle/>
          <a:p>
            <a:r>
              <a:rPr lang="en-US" dirty="0"/>
              <a:t>Скажите аудитории, что фишинг может приходить в виде писем, ссылок или звонков. Подчеркните важность проверки отправителя, домена и URL, а также обучения распознаванию подозрительных сигналов.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600200"/>
            <a:ext cx="5486400" cy="3086100"/>
          </a:xfrm>
        </p:spPr>
      </p:sp>
      <p:sp>
        <p:nvSpPr>
          <p:cNvPr id="3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800600"/>
            <a:ext cx="5486400" cy="3600450"/>
          </a:xfrm>
        </p:spPr>
        <p:txBody>
          <a:bodyPr/>
          <a:lstStyle/>
          <a:p>
            <a:r>
              <a:rPr lang="en-US" dirty="0"/>
              <a:t>Цель слайда — показать, что социальная инженерия питается доверием и маскируется под обычные коммуникации. Приведите примеры: звонки, мессенджеры, поддельные сотрудники. Подчеркните необходимость проверки идентичности, соблюдения политик безопасности и сообщения о подозрительных запросах.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600200"/>
            <a:ext cx="5486400" cy="3086100"/>
          </a:xfrm>
        </p:spPr>
      </p:sp>
      <p:sp>
        <p:nvSpPr>
          <p:cNvPr id="3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800600"/>
            <a:ext cx="5486400" cy="3600450"/>
          </a:xfrm>
        </p:spPr>
        <p:txBody>
          <a:bodyPr/>
          <a:lstStyle/>
          <a:p>
            <a:r>
              <a:rPr lang="en-US" dirty="0"/>
              <a:t>Объясните аудитории, что двухфакторная аутентификация добавляет второй фактор подтверждения входа и существенно снижает риск взлома паролей. Покажите пример настройки TOTP и использования ключа безопасности. Напомните, что использование уникальных длинных фраз и менеджера паролей повышает безопасность учетных записей.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idx="10" sz="half"/>
          </p:nvPr>
        </p:nvSpPr>
        <p:spPr/>
        <p:txBody>
          <a:bodyPr/>
          <a:lstStyle/>
          <a:p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idx="11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 sz="quarter"/>
          </p:nvPr>
        </p:nvSpPr>
        <p:spPr/>
        <p:txBody>
          <a:bodyPr/>
          <a:lstStyle/>
          <a:p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hdr="0" ftr="0" sldNum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indent="-228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4" Type="http://schemas.openxmlformats.org/officeDocument/2006/relationships/image" Target="../media/Presenton_Raster_Image_3.png"/><Relationship Id="rId6" Type="http://schemas.openxmlformats.org/officeDocument/2006/relationships/image" Target="../media/Presenton_Native_Image_5.png"/><Relationship Id="rId7" Type="http://schemas.openxmlformats.org/officeDocument/2006/relationships/notesSlide" Target="../notesSlides/notesSlide1.xml"/><Relationship Id="rId8" Type="http://schemas.openxmlformats.org/officeDocument/2006/relationships/image" Target="../media/presenton-native-svg-1-1.svg"/><Relationship Id="rId9" Type="http://schemas.openxmlformats.org/officeDocument/2006/relationships/image" Target="../media/presenton-native-svg-2-1.svg"/><Relationship Id="rId10" Type="http://schemas.openxmlformats.org/officeDocument/2006/relationships/image" Target="../media/presenton-native-svg-3-1.sv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Presenton_Native_Image_7.png"/><Relationship Id="rId6" Type="http://schemas.openxmlformats.org/officeDocument/2006/relationships/notesSlide" Target="../notesSlides/notesSlide2.xml"/><Relationship Id="rId7" Type="http://schemas.openxmlformats.org/officeDocument/2006/relationships/image" Target="../media/presenton-native-svg-4-2.svg"/><Relationship Id="rId8" Type="http://schemas.openxmlformats.org/officeDocument/2006/relationships/image" Target="../media/presenton-native-svg-5-2.svg"/><Relationship Id="rId9" Type="http://schemas.openxmlformats.org/officeDocument/2006/relationships/image" Target="../media/presenton-native-svg-6-2.svg"/><Relationship Id="rId10" Type="http://schemas.openxmlformats.org/officeDocument/2006/relationships/image" Target="../media/presenton-native-svg-7-2.svg"/><Relationship Id="rId11" Type="http://schemas.openxmlformats.org/officeDocument/2006/relationships/image" Target="../media/presenton-native-svg-8-2.sv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Presenton_Native_Image_13.png"/><Relationship Id="rId4" Type="http://schemas.openxmlformats.org/officeDocument/2006/relationships/image" Target="../media/Presenton_Native_Image_14.png"/><Relationship Id="rId6" Type="http://schemas.openxmlformats.org/officeDocument/2006/relationships/image" Target="../media/Presenton_Raster_Image_16.png"/><Relationship Id="rId8" Type="http://schemas.openxmlformats.org/officeDocument/2006/relationships/image" Target="../media/Presenton_Native_Image_18.png"/><Relationship Id="rId10" Type="http://schemas.openxmlformats.org/officeDocument/2006/relationships/image" Target="../media/Presenton_Native_Image_21.png"/><Relationship Id="rId11" Type="http://schemas.openxmlformats.org/officeDocument/2006/relationships/notesSlide" Target="../notesSlides/notesSlide3.xml"/><Relationship Id="rId12" Type="http://schemas.openxmlformats.org/officeDocument/2006/relationships/image" Target="../media/presenton-native-svg-9-3.svg"/><Relationship Id="rId13" Type="http://schemas.openxmlformats.org/officeDocument/2006/relationships/image" Target="../media/presenton-native-svg-10-3.svg"/><Relationship Id="rId14" Type="http://schemas.openxmlformats.org/officeDocument/2006/relationships/image" Target="../media/presenton-native-svg-11-3.svg"/><Relationship Id="rId15" Type="http://schemas.openxmlformats.org/officeDocument/2006/relationships/image" Target="../media/presenton-native-svg-12-3.svg"/><Relationship Id="rId16" Type="http://schemas.openxmlformats.org/officeDocument/2006/relationships/image" Target="../media/presenton-native-svg-13-3.svg"/><Relationship Id="rId17" Type="http://schemas.openxmlformats.org/officeDocument/2006/relationships/image" Target="../media/presenton-native-svg-14-3.sv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Presenton_Native_Image_24.png"/><Relationship Id="rId5" Type="http://schemas.openxmlformats.org/officeDocument/2006/relationships/image" Target="../media/Presenton_Raster_Image_26.png"/><Relationship Id="rId6" Type="http://schemas.openxmlformats.org/officeDocument/2006/relationships/notesSlide" Target="../notesSlides/notesSlide4.xml"/><Relationship Id="rId7" Type="http://schemas.openxmlformats.org/officeDocument/2006/relationships/image" Target="../media/presenton-native-svg-15-4.svg"/><Relationship Id="rId8" Type="http://schemas.openxmlformats.org/officeDocument/2006/relationships/image" Target="../media/presenton-native-svg-16-4.sv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4" Type="http://schemas.openxmlformats.org/officeDocument/2006/relationships/image" Target="../media/Presenton_Raster_Image_3.png"/><Relationship Id="rId6" Type="http://schemas.openxmlformats.org/officeDocument/2006/relationships/notesSlide" Target="../notesSlides/notesSlide5.xml"/><Relationship Id="rId7" Type="http://schemas.openxmlformats.org/officeDocument/2006/relationships/image" Target="../media/presenton-native-svg-17-5.svg"/><Relationship Id="rId8" Type="http://schemas.openxmlformats.org/officeDocument/2006/relationships/image" Target="../media/presenton-native-svg-18-5.svg"/><Relationship Id="rId9" Type="http://schemas.openxmlformats.org/officeDocument/2006/relationships/image" Target="../media/presenton-native-svg-19-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Presenton Native SVG Image 1" descr="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1" name="Presenton Native SVG Image 2" descr="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8200" y="1981200"/>
            <a:ext cx="4876800" cy="3048000"/>
          </a:xfrm>
          <a:prstGeom prst="rect">
            <a:avLst/>
          </a:prstGeom>
        </p:spPr>
      </p:pic>
      <p:pic>
        <p:nvPicPr>
          <p:cNvPr id="102" name="Presenton Raster Image 3" descr=""/>
          <p:cNvPicPr/>
          <p:nvPr/>
        </p:nvPicPr>
        <p:blipFill>
          <a:blip r:embed="rId4" cstate="none"/>
          <a:stretch>
            <a:fillRect/>
          </a:stretch>
        </p:blipFill>
        <p:spPr>
          <a:xfrm>
            <a:off x="838200" y="1981200"/>
            <a:ext cx="4876800" cy="3048000"/>
          </a:xfrm>
          <a:prstGeom prst="rect">
            <a:avLst/>
          </a:prstGeom>
        </p:spPr>
      </p:pic>
      <p:sp>
        <p:nvSpPr>
          <p:cNvPr id="2" name="Shape 2"/>
          <p:cNvSpPr/>
          <p:nvPr/>
        </p:nvSpPr>
        <p:spPr>
          <a:xfrm>
            <a:off x="6400800" y="1552575"/>
            <a:ext cx="5067300" cy="914400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3600"/>
              </a:lnSpc>
              <a:buNone/>
            </a:pPr>
            <a:r>
              <a:rPr sz="4500" b="1" i="0">
                <a:solidFill>
                  <a:srgbClr val="111827"/>
                </a:solidFill>
                <a:latin typeface="Poppins"/>
                <a:ea typeface="Poppins"/>
              </a:rPr>
              <a:t>Кибербезопасность и защта</a:t>
            </a:r>
            <a:endParaRPr lang="en-US"/>
          </a:p>
        </p:txBody>
      </p:sp>
      <p:pic>
        <p:nvPicPr>
          <p:cNvPr id="103" name="Presenton Native SVG Image 4" descr="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00800" y="2924175"/>
            <a:ext cx="762000" cy="38100"/>
          </a:xfrm>
          <a:prstGeom prst="rect">
            <a:avLst/>
          </a:prstGeom>
        </p:spPr>
      </p:pic>
      <p:sp>
        <p:nvSpPr>
          <p:cNvPr id="3" name="Shape 3"/>
          <p:cNvSpPr/>
          <p:nvPr/>
        </p:nvSpPr>
        <p:spPr>
          <a:xfrm>
            <a:off x="6400800" y="3190875"/>
            <a:ext cx="5067300" cy="1062633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1674"/>
              </a:lnSpc>
              <a:buNone/>
            </a:pPr>
            <a:r>
              <a:rPr sz="1350" b="0" i="0">
                <a:solidFill>
                  <a:srgbClr val="4B5563"/>
                </a:solidFill>
                <a:latin typeface="Poppins"/>
                <a:ea typeface="Poppins"/>
              </a:rPr>
              <a:t>Обзор угроз: фишинг и социальная инженерия, как их распознавать и предотвращать. Важность двухфакторной аутентификации и практические советы по созданию и защите надежных паролей, а также базовые принципы безопасного поведения в сети.</a:t>
            </a:r>
            <a:endParaRPr lang="en-US"/>
          </a:p>
        </p:txBody>
      </p:sp>
      <p:pic>
        <p:nvPicPr>
          <p:cNvPr id="104" name="Presenton Native Image 5" descr=""/>
          <p:cNvPicPr/>
          <p:nvPr/>
        </p:nvPicPr>
        <p:blipFill>
          <a:blip r:embed="rId6" cstate="none"/>
          <a:stretch>
            <a:fillRect/>
          </a:stretch>
        </p:blipFill>
        <p:spPr>
          <a:xfrm>
            <a:off x="6400800" y="4486275"/>
            <a:ext cx="5029200" cy="9715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Presenton Native SVG Image 6" descr="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/>
          <p:nvPr/>
        </p:nvSpPr>
        <p:spPr>
          <a:xfrm>
            <a:off x="762000" y="895350"/>
            <a:ext cx="10706100" cy="457200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ctr">
              <a:lnSpc>
                <a:spcPts val="3600"/>
              </a:lnSpc>
              <a:buNone/>
            </a:pPr>
            <a:r>
              <a:rPr sz="4500" b="1" i="0">
                <a:solidFill>
                  <a:srgbClr val="111827"/>
                </a:solidFill>
                <a:latin typeface="Poppins"/>
                <a:ea typeface="Poppins"/>
              </a:rPr>
              <a:t>Содержание</a:t>
            </a:r>
            <a:endParaRPr lang="en-US"/>
          </a:p>
        </p:txBody>
      </p:sp>
      <p:pic>
        <p:nvPicPr>
          <p:cNvPr id="106" name="Presenton Native Image 7" descr=""/>
          <p:cNvPicPr/>
          <p:nvPr/>
        </p:nvPicPr>
        <p:blipFill>
          <a:blip r:embed="rId3" cstate="none"/>
          <a:stretch>
            <a:fillRect/>
          </a:stretch>
        </p:blipFill>
        <p:spPr>
          <a:xfrm>
            <a:off x="5715000" y="1562100"/>
            <a:ext cx="762000" cy="190500"/>
          </a:xfrm>
          <a:prstGeom prst="rect">
            <a:avLst/>
          </a:prstGeom>
        </p:spPr>
      </p:pic>
      <p:pic>
        <p:nvPicPr>
          <p:cNvPr id="107" name="Presenton Native SVG Image 8" descr="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2000" y="2209800"/>
            <a:ext cx="533400" cy="533400"/>
          </a:xfrm>
          <a:prstGeom prst="rect">
            <a:avLst/>
          </a:prstGeom>
        </p:spPr>
      </p:pic>
      <p:sp>
        <p:nvSpPr>
          <p:cNvPr id="5" name="Shape 5"/>
          <p:cNvSpPr/>
          <p:nvPr/>
        </p:nvSpPr>
        <p:spPr>
          <a:xfrm>
            <a:off x="762000" y="2369790"/>
            <a:ext cx="552450" cy="213271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ctr">
              <a:lnSpc>
                <a:spcPts val="1680"/>
              </a:lnSpc>
              <a:buNone/>
            </a:pPr>
            <a:r>
              <a:rPr sz="1500" b="1" i="0">
                <a:solidFill>
                  <a:srgbClr val="FFFFFF"/>
                </a:solidFill>
                <a:latin typeface="Poppins"/>
                <a:ea typeface="Poppins"/>
              </a:rPr>
              <a:t>1</a:t>
            </a:r>
            <a:endParaRPr lang="en-US"/>
          </a:p>
        </p:txBody>
      </p:sp>
      <p:sp>
        <p:nvSpPr>
          <p:cNvPr id="6" name="Shape 6"/>
          <p:cNvSpPr/>
          <p:nvPr/>
        </p:nvSpPr>
        <p:spPr>
          <a:xfrm>
            <a:off x="1447800" y="2369790"/>
            <a:ext cx="3067050" cy="213271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1680"/>
              </a:lnSpc>
              <a:buNone/>
            </a:pPr>
            <a:r>
              <a:rPr sz="1500" b="0" i="0">
                <a:solidFill>
                  <a:srgbClr val="111827"/>
                </a:solidFill>
                <a:latin typeface="Poppins"/>
                <a:ea typeface="Poppins"/>
              </a:rPr>
              <a:t>Фишинг: признаки</a:t>
            </a:r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391150" y="2209800"/>
            <a:ext cx="514350" cy="213271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r">
              <a:lnSpc>
                <a:spcPts val="1680"/>
              </a:lnSpc>
              <a:buNone/>
            </a:pPr>
            <a:r>
              <a:rPr sz="1500" b="0" i="0">
                <a:solidFill>
                  <a:srgbClr val="4B5563"/>
                </a:solidFill>
                <a:latin typeface="Poppins"/>
                <a:ea typeface="Poppins"/>
              </a:rPr>
              <a:t>1</a:t>
            </a:r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391150" y="2514600"/>
            <a:ext cx="514350" cy="151954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r">
              <a:lnSpc>
                <a:spcPts val="1197"/>
              </a:lnSpc>
              <a:buNone/>
            </a:pPr>
            <a:r>
              <a:rPr sz="1050" b="0" i="0">
                <a:solidFill>
                  <a:srgbClr val="4B5563"/>
                </a:solidFill>
                <a:latin typeface="Poppins"/>
                <a:ea typeface="Poppins"/>
              </a:rPr>
              <a:t>.....</a:t>
            </a:r>
            <a:endParaRPr lang="en-US"/>
          </a:p>
        </p:txBody>
      </p:sp>
      <p:pic>
        <p:nvPicPr>
          <p:cNvPr id="108" name="Presenton Native SVG Image 9" descr="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29350" y="2209800"/>
            <a:ext cx="533400" cy="533400"/>
          </a:xfrm>
          <a:prstGeom prst="rect">
            <a:avLst/>
          </a:prstGeom>
        </p:spPr>
      </p:pic>
      <p:sp>
        <p:nvSpPr>
          <p:cNvPr id="9" name="Shape 9"/>
          <p:cNvSpPr/>
          <p:nvPr/>
        </p:nvSpPr>
        <p:spPr>
          <a:xfrm>
            <a:off x="6229350" y="2369790"/>
            <a:ext cx="552450" cy="213271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ctr">
              <a:lnSpc>
                <a:spcPts val="1680"/>
              </a:lnSpc>
              <a:buNone/>
            </a:pPr>
            <a:r>
              <a:rPr sz="1500" b="1" i="0">
                <a:solidFill>
                  <a:srgbClr val="FFFFFF"/>
                </a:solidFill>
                <a:latin typeface="Poppins"/>
                <a:ea typeface="Poppins"/>
              </a:rPr>
              <a:t>2</a:t>
            </a:r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6915150" y="2369790"/>
            <a:ext cx="3067050" cy="213271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1680"/>
              </a:lnSpc>
              <a:buNone/>
            </a:pPr>
            <a:r>
              <a:rPr sz="1500" b="0" i="0">
                <a:solidFill>
                  <a:srgbClr val="111827"/>
                </a:solidFill>
                <a:latin typeface="Poppins"/>
                <a:ea typeface="Poppins"/>
              </a:rPr>
              <a:t>Социальная инженерия</a:t>
            </a:r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10858500" y="2209800"/>
            <a:ext cx="514350" cy="213271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r">
              <a:lnSpc>
                <a:spcPts val="1680"/>
              </a:lnSpc>
              <a:buNone/>
            </a:pPr>
            <a:r>
              <a:rPr sz="1500" b="0" i="0">
                <a:solidFill>
                  <a:srgbClr val="4B5563"/>
                </a:solidFill>
                <a:latin typeface="Poppins"/>
                <a:ea typeface="Poppins"/>
              </a:rPr>
              <a:t>2</a:t>
            </a:r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10858500" y="2514600"/>
            <a:ext cx="514350" cy="151954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r">
              <a:lnSpc>
                <a:spcPts val="1197"/>
              </a:lnSpc>
              <a:buNone/>
            </a:pPr>
            <a:r>
              <a:rPr sz="1050" b="0" i="0">
                <a:solidFill>
                  <a:srgbClr val="4B5563"/>
                </a:solidFill>
                <a:latin typeface="Poppins"/>
                <a:ea typeface="Poppins"/>
              </a:rPr>
              <a:t>.....</a:t>
            </a:r>
            <a:endParaRPr lang="en-US"/>
          </a:p>
        </p:txBody>
      </p:sp>
      <p:pic>
        <p:nvPicPr>
          <p:cNvPr id="109" name="Presenton Native SVG Image 10" descr="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62000" y="3021211"/>
            <a:ext cx="533400" cy="533400"/>
          </a:xfrm>
          <a:prstGeom prst="rect">
            <a:avLst/>
          </a:prstGeom>
        </p:spPr>
      </p:pic>
      <p:sp>
        <p:nvSpPr>
          <p:cNvPr id="13" name="Shape 13"/>
          <p:cNvSpPr/>
          <p:nvPr/>
        </p:nvSpPr>
        <p:spPr>
          <a:xfrm>
            <a:off x="762000" y="3181201"/>
            <a:ext cx="552450" cy="213271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ctr">
              <a:lnSpc>
                <a:spcPts val="1680"/>
              </a:lnSpc>
              <a:buNone/>
            </a:pPr>
            <a:r>
              <a:rPr sz="1500" b="1" i="0">
                <a:solidFill>
                  <a:srgbClr val="FFFFFF"/>
                </a:solidFill>
                <a:latin typeface="Poppins"/>
                <a:ea typeface="Poppins"/>
              </a:rPr>
              <a:t>3</a:t>
            </a:r>
            <a:endParaRPr lang="en-US"/>
          </a:p>
        </p:txBody>
      </p:sp>
      <p:sp>
        <p:nvSpPr>
          <p:cNvPr id="14" name="Shape 14"/>
          <p:cNvSpPr/>
          <p:nvPr/>
        </p:nvSpPr>
        <p:spPr>
          <a:xfrm>
            <a:off x="1447800" y="3181201"/>
            <a:ext cx="3067050" cy="213271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1680"/>
              </a:lnSpc>
              <a:buNone/>
            </a:pPr>
            <a:r>
              <a:rPr sz="1500" b="0" i="0">
                <a:solidFill>
                  <a:srgbClr val="111827"/>
                </a:solidFill>
                <a:latin typeface="Poppins"/>
                <a:ea typeface="Poppins"/>
              </a:rPr>
              <a:t>2FA: зачем нужна</a:t>
            </a:r>
            <a:endParaRPr lang="en-US"/>
          </a:p>
        </p:txBody>
      </p:sp>
      <p:sp>
        <p:nvSpPr>
          <p:cNvPr id="15" name="Shape 15"/>
          <p:cNvSpPr/>
          <p:nvPr/>
        </p:nvSpPr>
        <p:spPr>
          <a:xfrm>
            <a:off x="5391150" y="3021211"/>
            <a:ext cx="514350" cy="213271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r">
              <a:lnSpc>
                <a:spcPts val="1680"/>
              </a:lnSpc>
              <a:buNone/>
            </a:pPr>
            <a:r>
              <a:rPr sz="1500" b="0" i="0">
                <a:solidFill>
                  <a:srgbClr val="4B5563"/>
                </a:solidFill>
                <a:latin typeface="Poppins"/>
                <a:ea typeface="Poppins"/>
              </a:rPr>
              <a:t>3</a:t>
            </a:r>
            <a:endParaRPr lang="en-US"/>
          </a:p>
        </p:txBody>
      </p:sp>
      <p:sp>
        <p:nvSpPr>
          <p:cNvPr id="16" name="Shape 16"/>
          <p:cNvSpPr/>
          <p:nvPr/>
        </p:nvSpPr>
        <p:spPr>
          <a:xfrm>
            <a:off x="5391150" y="3326011"/>
            <a:ext cx="514350" cy="151954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r">
              <a:lnSpc>
                <a:spcPts val="1197"/>
              </a:lnSpc>
              <a:buNone/>
            </a:pPr>
            <a:r>
              <a:rPr sz="1050" b="0" i="0">
                <a:solidFill>
                  <a:srgbClr val="4B5563"/>
                </a:solidFill>
                <a:latin typeface="Poppins"/>
                <a:ea typeface="Poppins"/>
              </a:rPr>
              <a:t>.....</a:t>
            </a:r>
            <a:endParaRPr lang="en-US"/>
          </a:p>
        </p:txBody>
      </p:sp>
      <p:pic>
        <p:nvPicPr>
          <p:cNvPr id="110" name="Presenton Native SVG Image 11" descr="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229350" y="3021211"/>
            <a:ext cx="533400" cy="533400"/>
          </a:xfrm>
          <a:prstGeom prst="rect">
            <a:avLst/>
          </a:prstGeom>
        </p:spPr>
      </p:pic>
      <p:sp>
        <p:nvSpPr>
          <p:cNvPr id="17" name="Shape 17"/>
          <p:cNvSpPr/>
          <p:nvPr/>
        </p:nvSpPr>
        <p:spPr>
          <a:xfrm>
            <a:off x="6229350" y="3181201"/>
            <a:ext cx="552450" cy="213271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ctr">
              <a:lnSpc>
                <a:spcPts val="1680"/>
              </a:lnSpc>
              <a:buNone/>
            </a:pPr>
            <a:r>
              <a:rPr sz="1500" b="1" i="0">
                <a:solidFill>
                  <a:srgbClr val="FFFFFF"/>
                </a:solidFill>
                <a:latin typeface="Poppins"/>
                <a:ea typeface="Poppins"/>
              </a:rPr>
              <a:t>4</a:t>
            </a:r>
            <a:endParaRPr lang="en-US"/>
          </a:p>
        </p:txBody>
      </p:sp>
      <p:sp>
        <p:nvSpPr>
          <p:cNvPr id="18" name="Shape 18"/>
          <p:cNvSpPr/>
          <p:nvPr/>
        </p:nvSpPr>
        <p:spPr>
          <a:xfrm>
            <a:off x="6915150" y="3181201"/>
            <a:ext cx="3067050" cy="213271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1680"/>
              </a:lnSpc>
              <a:buNone/>
            </a:pPr>
            <a:r>
              <a:rPr sz="1500" b="0" i="0">
                <a:solidFill>
                  <a:srgbClr val="111827"/>
                </a:solidFill>
                <a:latin typeface="Poppins"/>
                <a:ea typeface="Poppins"/>
              </a:rPr>
              <a:t>Пароли: правила</a:t>
            </a:r>
            <a:endParaRPr lang="en-US"/>
          </a:p>
        </p:txBody>
      </p:sp>
      <p:sp>
        <p:nvSpPr>
          <p:cNvPr id="19" name="Shape 19"/>
          <p:cNvSpPr/>
          <p:nvPr/>
        </p:nvSpPr>
        <p:spPr>
          <a:xfrm>
            <a:off x="10858500" y="3021211"/>
            <a:ext cx="514350" cy="213271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r">
              <a:lnSpc>
                <a:spcPts val="1680"/>
              </a:lnSpc>
              <a:buNone/>
            </a:pPr>
            <a:r>
              <a:rPr sz="1500" b="0" i="0">
                <a:solidFill>
                  <a:srgbClr val="4B5563"/>
                </a:solidFill>
                <a:latin typeface="Poppins"/>
                <a:ea typeface="Poppins"/>
              </a:rPr>
              <a:t>4</a:t>
            </a:r>
            <a:endParaRPr lang="en-US"/>
          </a:p>
        </p:txBody>
      </p:sp>
      <p:sp>
        <p:nvSpPr>
          <p:cNvPr id="20" name="Shape 20"/>
          <p:cNvSpPr/>
          <p:nvPr/>
        </p:nvSpPr>
        <p:spPr>
          <a:xfrm>
            <a:off x="10858500" y="3326011"/>
            <a:ext cx="514350" cy="151954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r">
              <a:lnSpc>
                <a:spcPts val="1197"/>
              </a:lnSpc>
              <a:buNone/>
            </a:pPr>
            <a:r>
              <a:rPr sz="1050" b="0" i="0">
                <a:solidFill>
                  <a:srgbClr val="4B5563"/>
                </a:solidFill>
                <a:latin typeface="Poppins"/>
                <a:ea typeface="Poppins"/>
              </a:rPr>
              <a:t>.....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Presenton Native SVG Image 12" descr="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2" name="Presenton Native Image 13" descr=""/>
          <p:cNvPicPr/>
          <p:nvPr/>
        </p:nvPicPr>
        <p:blipFill>
          <a:blip r:embed="rId3" cstate="none"/>
          <a:stretch>
            <a:fillRect/>
          </a:stretch>
        </p:blipFill>
        <p:spPr>
          <a:xfrm>
            <a:off x="762000" y="1333500"/>
            <a:ext cx="5029200" cy="5219700"/>
          </a:xfrm>
          <a:prstGeom prst="rect">
            <a:avLst/>
          </a:prstGeom>
        </p:spPr>
      </p:pic>
      <p:pic>
        <p:nvPicPr>
          <p:cNvPr id="113" name="Presenton Native Image 14" descr=""/>
          <p:cNvPicPr/>
          <p:nvPr/>
        </p:nvPicPr>
        <p:blipFill>
          <a:blip r:embed="rId4" cstate="none"/>
          <a:stretch>
            <a:fillRect/>
          </a:stretch>
        </p:blipFill>
        <p:spPr>
          <a:xfrm>
            <a:off x="5257800" y="2095500"/>
            <a:ext cx="228600" cy="228600"/>
          </a:xfrm>
          <a:prstGeom prst="rect">
            <a:avLst/>
          </a:prstGeom>
        </p:spPr>
      </p:pic>
      <p:sp>
        <p:nvSpPr>
          <p:cNvPr id="21" name="Shape 21"/>
          <p:cNvSpPr/>
          <p:nvPr/>
        </p:nvSpPr>
        <p:spPr>
          <a:xfrm>
            <a:off x="762000" y="457200"/>
            <a:ext cx="10706100" cy="457200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3600"/>
              </a:lnSpc>
              <a:buNone/>
            </a:pPr>
            <a:r>
              <a:rPr sz="4500" b="1" i="0">
                <a:solidFill>
                  <a:srgbClr val="111827"/>
                </a:solidFill>
                <a:latin typeface="Poppins"/>
                <a:ea typeface="Poppins"/>
              </a:rPr>
              <a:t>Фишинг: обман через письма</a:t>
            </a:r>
            <a:endParaRPr lang="en-US"/>
          </a:p>
        </p:txBody>
      </p:sp>
      <p:pic>
        <p:nvPicPr>
          <p:cNvPr id="114" name="Presenton Native SVG Image 15" descr="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43000" y="2419350"/>
            <a:ext cx="4267200" cy="3048000"/>
          </a:xfrm>
          <a:prstGeom prst="rect">
            <a:avLst/>
          </a:prstGeom>
        </p:spPr>
      </p:pic>
      <p:pic>
        <p:nvPicPr>
          <p:cNvPr id="115" name="Presenton Raster Image 16" descr=""/>
          <p:cNvPicPr/>
          <p:nvPr/>
        </p:nvPicPr>
        <p:blipFill>
          <a:blip r:embed="rId6" cstate="none"/>
          <a:stretch>
            <a:fillRect/>
          </a:stretch>
        </p:blipFill>
        <p:spPr>
          <a:xfrm>
            <a:off x="1143000" y="2419350"/>
            <a:ext cx="4267200" cy="3048000"/>
          </a:xfrm>
          <a:prstGeom prst="rect">
            <a:avLst/>
          </a:prstGeom>
        </p:spPr>
      </p:pic>
      <p:sp>
        <p:nvSpPr>
          <p:cNvPr id="22" name="Shape 22"/>
          <p:cNvSpPr/>
          <p:nvPr/>
        </p:nvSpPr>
        <p:spPr>
          <a:xfrm>
            <a:off x="6400800" y="1368921"/>
            <a:ext cx="5067300" cy="668387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1755"/>
              </a:lnSpc>
              <a:buNone/>
            </a:pPr>
            <a:r>
              <a:rPr sz="1350" b="0" i="0">
                <a:solidFill>
                  <a:srgbClr val="4B5563"/>
                </a:solidFill>
                <a:latin typeface="Poppins"/>
                <a:ea typeface="Poppins"/>
              </a:rPr>
              <a:t>Фишинг — обман через письма, ссылки и звонки. Проверяйте отправителя, домен и URL; не переходите по сомнительным ссылкам.</a:t>
            </a:r>
            <a:endParaRPr lang="en-US"/>
          </a:p>
        </p:txBody>
      </p:sp>
      <p:pic>
        <p:nvPicPr>
          <p:cNvPr id="116" name="Presenton Native SVG Image 17" descr="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400800" y="2511921"/>
            <a:ext cx="457200" cy="457200"/>
          </a:xfrm>
          <a:prstGeom prst="rect">
            <a:avLst/>
          </a:prstGeom>
        </p:spPr>
      </p:pic>
      <p:pic>
        <p:nvPicPr>
          <p:cNvPr id="117" name="Presenton Native Image 18" descr=""/>
          <p:cNvPicPr/>
          <p:nvPr/>
        </p:nvPicPr>
        <p:blipFill>
          <a:blip r:embed="rId8" cstate="none"/>
          <a:stretch>
            <a:fillRect/>
          </a:stretch>
        </p:blipFill>
        <p:spPr>
          <a:xfrm>
            <a:off x="6515100" y="2629049"/>
            <a:ext cx="228600" cy="228600"/>
          </a:xfrm>
          <a:prstGeom prst="rect">
            <a:avLst/>
          </a:prstGeom>
        </p:spPr>
      </p:pic>
      <p:sp>
        <p:nvSpPr>
          <p:cNvPr id="23" name="Shape 23"/>
          <p:cNvSpPr/>
          <p:nvPr/>
        </p:nvSpPr>
        <p:spPr>
          <a:xfrm>
            <a:off x="7010400" y="2511921"/>
            <a:ext cx="4457700" cy="213271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1680"/>
              </a:lnSpc>
              <a:buNone/>
            </a:pPr>
            <a:r>
              <a:rPr sz="1500" b="0" i="0">
                <a:solidFill>
                  <a:srgbClr val="111827"/>
                </a:solidFill>
                <a:latin typeface="Poppins"/>
                <a:ea typeface="Poppins"/>
              </a:rPr>
              <a:t>Проверяйте отправителя</a:t>
            </a:r>
            <a:endParaRPr lang="en-US"/>
          </a:p>
        </p:txBody>
      </p:sp>
      <p:pic>
        <p:nvPicPr>
          <p:cNvPr id="118" name="Presenton Native SVG Image 19" descr="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010400" y="2854821"/>
            <a:ext cx="457200" cy="19050"/>
          </a:xfrm>
          <a:prstGeom prst="rect">
            <a:avLst/>
          </a:prstGeom>
        </p:spPr>
      </p:pic>
      <p:sp>
        <p:nvSpPr>
          <p:cNvPr id="24" name="Shape 24"/>
          <p:cNvSpPr/>
          <p:nvPr/>
        </p:nvSpPr>
        <p:spPr>
          <a:xfrm>
            <a:off x="7010400" y="2988171"/>
            <a:ext cx="4457700" cy="396180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1560"/>
              </a:lnSpc>
              <a:buNone/>
            </a:pPr>
            <a:r>
              <a:rPr sz="1200" b="0" i="0">
                <a:solidFill>
                  <a:srgbClr val="4B5563"/>
                </a:solidFill>
                <a:latin typeface="Poppins"/>
                <a:ea typeface="Poppins"/>
              </a:rPr>
              <a:t>Убедитесь, что письмо действительно от знакомого адреса и не содержит ошибок в адресе.</a:t>
            </a:r>
            <a:endParaRPr lang="en-US"/>
          </a:p>
        </p:txBody>
      </p:sp>
      <p:pic>
        <p:nvPicPr>
          <p:cNvPr id="119" name="Presenton Native SVG Image 20" descr="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400800" y="3712071"/>
            <a:ext cx="457200" cy="457200"/>
          </a:xfrm>
          <a:prstGeom prst="rect">
            <a:avLst/>
          </a:prstGeom>
        </p:spPr>
      </p:pic>
      <p:pic>
        <p:nvPicPr>
          <p:cNvPr id="120" name="Presenton Native Image 21" descr=""/>
          <p:cNvPicPr/>
          <p:nvPr/>
        </p:nvPicPr>
        <p:blipFill>
          <a:blip r:embed="rId10" cstate="none"/>
          <a:stretch>
            <a:fillRect/>
          </a:stretch>
        </p:blipFill>
        <p:spPr>
          <a:xfrm>
            <a:off x="6515100" y="3829199"/>
            <a:ext cx="228600" cy="228600"/>
          </a:xfrm>
          <a:prstGeom prst="rect">
            <a:avLst/>
          </a:prstGeom>
        </p:spPr>
      </p:pic>
      <p:sp>
        <p:nvSpPr>
          <p:cNvPr id="25" name="Shape 25"/>
          <p:cNvSpPr/>
          <p:nvPr/>
        </p:nvSpPr>
        <p:spPr>
          <a:xfrm>
            <a:off x="7010400" y="3712071"/>
            <a:ext cx="4457700" cy="213271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1680"/>
              </a:lnSpc>
              <a:buNone/>
            </a:pPr>
            <a:r>
              <a:rPr sz="1500" b="0" i="0">
                <a:solidFill>
                  <a:srgbClr val="111827"/>
                </a:solidFill>
                <a:latin typeface="Poppins"/>
                <a:ea typeface="Poppins"/>
              </a:rPr>
              <a:t>Не переходите по сомнительным ссылкам</a:t>
            </a:r>
            <a:endParaRPr lang="en-US"/>
          </a:p>
        </p:txBody>
      </p:sp>
      <p:pic>
        <p:nvPicPr>
          <p:cNvPr id="121" name="Presenton Native SVG Image 22" descr="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010400" y="4054971"/>
            <a:ext cx="457200" cy="19050"/>
          </a:xfrm>
          <a:prstGeom prst="rect">
            <a:avLst/>
          </a:prstGeom>
        </p:spPr>
      </p:pic>
      <p:sp>
        <p:nvSpPr>
          <p:cNvPr id="26" name="Shape 26"/>
          <p:cNvSpPr/>
          <p:nvPr/>
        </p:nvSpPr>
        <p:spPr>
          <a:xfrm>
            <a:off x="7010400" y="4188321"/>
            <a:ext cx="4457700" cy="396180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1560"/>
              </a:lnSpc>
              <a:buNone/>
            </a:pPr>
            <a:r>
              <a:rPr sz="1200" b="0" i="0">
                <a:solidFill>
                  <a:srgbClr val="4B5563"/>
                </a:solidFill>
                <a:latin typeface="Poppins"/>
                <a:ea typeface="Poppins"/>
              </a:rPr>
              <a:t>Если ссылка подозрительная, наведите курсор, чтобы увидеть реальный адрес, и не вводите данные.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Presenton Native SVG Image 23" descr="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3" name="Presenton Native Image 24" descr=""/>
          <p:cNvPicPr/>
          <p:nvPr/>
        </p:nvPicPr>
        <p:blipFill>
          <a:blip r:embed="rId3" cstate="none"/>
          <a:stretch>
            <a:fillRect/>
          </a:stretch>
        </p:blipFill>
        <p:spPr>
          <a:xfrm>
            <a:off x="0" y="6096000"/>
            <a:ext cx="12192000" cy="762000"/>
          </a:xfrm>
          <a:prstGeom prst="rect">
            <a:avLst/>
          </a:prstGeom>
        </p:spPr>
      </p:pic>
      <p:sp>
        <p:nvSpPr>
          <p:cNvPr id="27" name="Shape 27"/>
          <p:cNvSpPr/>
          <p:nvPr/>
        </p:nvSpPr>
        <p:spPr>
          <a:xfrm>
            <a:off x="762000" y="457200"/>
            <a:ext cx="7353300" cy="457200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3600"/>
              </a:lnSpc>
              <a:buNone/>
            </a:pPr>
            <a:r>
              <a:rPr sz="4500" b="1" i="0">
                <a:solidFill>
                  <a:srgbClr val="111827"/>
                </a:solidFill>
                <a:latin typeface="Poppins"/>
                <a:ea typeface="Poppins"/>
              </a:rPr>
              <a:t>Социальная инженерия</a:t>
            </a:r>
            <a:endParaRPr lang="en-US"/>
          </a:p>
        </p:txBody>
      </p:sp>
      <p:pic>
        <p:nvPicPr>
          <p:cNvPr id="124" name="Presenton Native SVG Image 25" descr="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2000" y="1181100"/>
            <a:ext cx="914400" cy="38100"/>
          </a:xfrm>
          <a:prstGeom prst="rect">
            <a:avLst/>
          </a:prstGeom>
        </p:spPr>
      </p:pic>
      <p:pic>
        <p:nvPicPr>
          <p:cNvPr id="125" name="Presenton Raster Image 26" descr=""/>
          <p:cNvPicPr/>
          <p:nvPr/>
        </p:nvPicPr>
        <p:blipFill>
          <a:blip r:embed="rId5" cstate="none"/>
          <a:stretch>
            <a:fillRect/>
          </a:stretch>
        </p:blipFill>
        <p:spPr>
          <a:xfrm>
            <a:off x="8382000" y="457200"/>
            <a:ext cx="3048000" cy="1828800"/>
          </a:xfrm>
          <a:prstGeom prst="rect">
            <a:avLst/>
          </a:prstGeom>
        </p:spPr>
      </p:pic>
      <p:sp>
        <p:nvSpPr>
          <p:cNvPr id="28" name="Shape 28"/>
          <p:cNvSpPr/>
          <p:nvPr/>
        </p:nvSpPr>
        <p:spPr>
          <a:xfrm>
            <a:off x="762000" y="2590800"/>
            <a:ext cx="514350" cy="365671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2880"/>
              </a:lnSpc>
              <a:buNone/>
            </a:pPr>
            <a:r>
              <a:rPr sz="3600" b="1" i="0">
                <a:solidFill>
                  <a:srgbClr val="111827"/>
                </a:solidFill>
                <a:latin typeface="Poppins"/>
                <a:ea typeface="Poppins"/>
              </a:rPr>
              <a:t>1</a:t>
            </a:r>
            <a:endParaRPr lang="en-US"/>
          </a:p>
        </p:txBody>
      </p:sp>
      <p:sp>
        <p:nvSpPr>
          <p:cNvPr id="29" name="Shape 29"/>
          <p:cNvSpPr/>
          <p:nvPr/>
        </p:nvSpPr>
        <p:spPr>
          <a:xfrm>
            <a:off x="1381125" y="2667000"/>
            <a:ext cx="4600575" cy="244525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1926"/>
              </a:lnSpc>
              <a:buNone/>
            </a:pPr>
            <a:r>
              <a:rPr sz="1800" b="1" i="0">
                <a:solidFill>
                  <a:srgbClr val="111827"/>
                </a:solidFill>
                <a:latin typeface="Poppins"/>
                <a:ea typeface="Poppins"/>
              </a:rPr>
              <a:t>Опасности</a:t>
            </a:r>
            <a:endParaRPr lang="en-US"/>
          </a:p>
        </p:txBody>
      </p:sp>
      <p:sp>
        <p:nvSpPr>
          <p:cNvPr id="30" name="Shape 30"/>
          <p:cNvSpPr/>
          <p:nvPr/>
        </p:nvSpPr>
        <p:spPr>
          <a:xfrm>
            <a:off x="1381125" y="3086100"/>
            <a:ext cx="4600575" cy="594271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1560"/>
              </a:lnSpc>
              <a:buNone/>
            </a:pPr>
            <a:r>
              <a:rPr sz="1200" b="0" i="0">
                <a:solidFill>
                  <a:srgbClr val="4B5563"/>
                </a:solidFill>
                <a:latin typeface="Poppins"/>
                <a:ea typeface="Poppins"/>
              </a:rPr>
              <a:t>Звонки, мессенджеры и поддельные сотрудники используют доверие для запроса данных. Проверяйте источник.</a:t>
            </a:r>
            <a:endParaRPr lang="en-US"/>
          </a:p>
        </p:txBody>
      </p:sp>
      <p:sp>
        <p:nvSpPr>
          <p:cNvPr id="31" name="Shape 31"/>
          <p:cNvSpPr/>
          <p:nvPr/>
        </p:nvSpPr>
        <p:spPr>
          <a:xfrm>
            <a:off x="6162675" y="2590800"/>
            <a:ext cx="600075" cy="365671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2880"/>
              </a:lnSpc>
              <a:buNone/>
            </a:pPr>
            <a:r>
              <a:rPr sz="3600" b="1" i="0">
                <a:solidFill>
                  <a:srgbClr val="111827"/>
                </a:solidFill>
                <a:latin typeface="Poppins"/>
                <a:ea typeface="Poppins"/>
              </a:rPr>
              <a:t>2</a:t>
            </a:r>
            <a:endParaRPr lang="en-US"/>
          </a:p>
        </p:txBody>
      </p:sp>
      <p:sp>
        <p:nvSpPr>
          <p:cNvPr id="32" name="Shape 32"/>
          <p:cNvSpPr/>
          <p:nvPr/>
        </p:nvSpPr>
        <p:spPr>
          <a:xfrm>
            <a:off x="6877050" y="2667000"/>
            <a:ext cx="4505325" cy="244525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1926"/>
              </a:lnSpc>
              <a:buNone/>
            </a:pPr>
            <a:r>
              <a:rPr sz="1800" b="1" i="0">
                <a:solidFill>
                  <a:srgbClr val="111827"/>
                </a:solidFill>
                <a:latin typeface="Poppins"/>
                <a:ea typeface="Poppins"/>
              </a:rPr>
              <a:t>Проверка личности</a:t>
            </a:r>
            <a:endParaRPr lang="en-US"/>
          </a:p>
        </p:txBody>
      </p:sp>
      <p:sp>
        <p:nvSpPr>
          <p:cNvPr id="33" name="Shape 33"/>
          <p:cNvSpPr/>
          <p:nvPr/>
        </p:nvSpPr>
        <p:spPr>
          <a:xfrm>
            <a:off x="6877050" y="3086100"/>
            <a:ext cx="4505325" cy="396180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1560"/>
              </a:lnSpc>
              <a:buNone/>
            </a:pPr>
            <a:r>
              <a:rPr sz="1200" b="0" i="0">
                <a:solidFill>
                  <a:srgbClr val="4B5563"/>
                </a:solidFill>
                <a:latin typeface="Poppins"/>
                <a:ea typeface="Poppins"/>
              </a:rPr>
              <a:t>Подтверждайте личность через отдельный канал. Не доверяйте запросам без дополнительной идентификации.</a:t>
            </a:r>
            <a:endParaRPr lang="en-US"/>
          </a:p>
        </p:txBody>
      </p:sp>
      <p:sp>
        <p:nvSpPr>
          <p:cNvPr id="34" name="Shape 34"/>
          <p:cNvSpPr/>
          <p:nvPr/>
        </p:nvSpPr>
        <p:spPr>
          <a:xfrm>
            <a:off x="762000" y="3914775"/>
            <a:ext cx="609600" cy="365671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2880"/>
              </a:lnSpc>
              <a:buNone/>
            </a:pPr>
            <a:r>
              <a:rPr sz="3600" b="1" i="0">
                <a:solidFill>
                  <a:srgbClr val="111827"/>
                </a:solidFill>
                <a:latin typeface="Poppins"/>
                <a:ea typeface="Poppins"/>
              </a:rPr>
              <a:t>3</a:t>
            </a:r>
            <a:endParaRPr lang="en-US"/>
          </a:p>
        </p:txBody>
      </p:sp>
      <p:sp>
        <p:nvSpPr>
          <p:cNvPr id="35" name="Shape 35"/>
          <p:cNvSpPr/>
          <p:nvPr/>
        </p:nvSpPr>
        <p:spPr>
          <a:xfrm>
            <a:off x="1485900" y="3990975"/>
            <a:ext cx="4495800" cy="244525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1926"/>
              </a:lnSpc>
              <a:buNone/>
            </a:pPr>
            <a:r>
              <a:rPr sz="1800" b="1" i="0">
                <a:solidFill>
                  <a:srgbClr val="111827"/>
                </a:solidFill>
                <a:latin typeface="Poppins"/>
                <a:ea typeface="Poppins"/>
              </a:rPr>
              <a:t>Сообщение риска</a:t>
            </a:r>
            <a:endParaRPr lang="en-US"/>
          </a:p>
        </p:txBody>
      </p:sp>
      <p:sp>
        <p:nvSpPr>
          <p:cNvPr id="36" name="Shape 36"/>
          <p:cNvSpPr/>
          <p:nvPr/>
        </p:nvSpPr>
        <p:spPr>
          <a:xfrm>
            <a:off x="1485900" y="4410075"/>
            <a:ext cx="4495800" cy="396180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1560"/>
              </a:lnSpc>
              <a:buNone/>
            </a:pPr>
            <a:r>
              <a:rPr sz="1200" b="0" i="0">
                <a:solidFill>
                  <a:srgbClr val="4B5563"/>
                </a:solidFill>
                <a:latin typeface="Poppins"/>
                <a:ea typeface="Poppins"/>
              </a:rPr>
              <a:t>Сообщайте о подозрительных запросах в IT-службу. Быстрая реакция снижает риск утечки.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Presenton Native SVG Image 27" descr="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7" name="Presenton Native SVG Image 28" descr="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8200" y="1752600"/>
            <a:ext cx="4876800" cy="3048000"/>
          </a:xfrm>
          <a:prstGeom prst="rect">
            <a:avLst/>
          </a:prstGeom>
        </p:spPr>
      </p:pic>
      <p:pic>
        <p:nvPicPr>
          <p:cNvPr id="128" name="Presenton Raster Image 29" descr=""/>
          <p:cNvPicPr/>
          <p:nvPr/>
        </p:nvPicPr>
        <p:blipFill>
          <a:blip r:embed="rId4" cstate="none"/>
          <a:stretch>
            <a:fillRect/>
          </a:stretch>
        </p:blipFill>
        <p:spPr>
          <a:xfrm>
            <a:off x="838200" y="1752600"/>
            <a:ext cx="4876800" cy="3048000"/>
          </a:xfrm>
          <a:prstGeom prst="rect">
            <a:avLst/>
          </a:prstGeom>
        </p:spPr>
      </p:pic>
      <p:sp>
        <p:nvSpPr>
          <p:cNvPr id="37" name="Shape 37"/>
          <p:cNvSpPr/>
          <p:nvPr/>
        </p:nvSpPr>
        <p:spPr>
          <a:xfrm>
            <a:off x="6400800" y="1899940"/>
            <a:ext cx="5067300" cy="457200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3600"/>
              </a:lnSpc>
              <a:buNone/>
            </a:pPr>
            <a:r>
              <a:rPr sz="4500" b="1" i="0">
                <a:solidFill>
                  <a:srgbClr val="111827"/>
                </a:solidFill>
                <a:latin typeface="Poppins"/>
                <a:ea typeface="Poppins"/>
              </a:rPr>
              <a:t>2FA и пароли</a:t>
            </a:r>
            <a:endParaRPr lang="en-US"/>
          </a:p>
        </p:txBody>
      </p:sp>
      <p:pic>
        <p:nvPicPr>
          <p:cNvPr id="129" name="Presenton Native SVG Image 30" descr="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00800" y="3271540"/>
            <a:ext cx="762000" cy="38100"/>
          </a:xfrm>
          <a:prstGeom prst="rect">
            <a:avLst/>
          </a:prstGeom>
        </p:spPr>
      </p:pic>
      <p:sp>
        <p:nvSpPr>
          <p:cNvPr id="38" name="Shape 38"/>
          <p:cNvSpPr/>
          <p:nvPr/>
        </p:nvSpPr>
        <p:spPr>
          <a:xfrm>
            <a:off x="6400800" y="3468886"/>
            <a:ext cx="5067300" cy="850106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1674"/>
              </a:lnSpc>
              <a:buNone/>
            </a:pPr>
            <a:r>
              <a:rPr sz="1350" b="0" i="0">
                <a:solidFill>
                  <a:srgbClr val="4B5563"/>
                </a:solidFill>
                <a:latin typeface="Poppins"/>
                <a:ea typeface="Poppins"/>
              </a:rPr>
              <a:t>Двухфакторная аутентификация: второй фактор через приложение, SMS или аппаратный ключ. Включайте ее повсеместно. Пароли — длинные уникальные фразы, не повторяйте их и храните в менеджере паролей.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102000"/>
                <a:satMod val="103000"/>
                <a:tint val="94000"/>
              </a:schemeClr>
            </a:gs>
            <a:gs pos="50000">
              <a:schemeClr val="phClr">
                <a:lumMod val="100000"/>
                <a:satMod val="11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lumMod val="102000"/>
                <a:satMod val="150000"/>
                <a:tint val="93000"/>
                <a:shade val="98000"/>
              </a:schemeClr>
            </a:gs>
            <a:gs pos="50000">
              <a:schemeClr val="phClr">
                <a:lumMod val="103000"/>
                <a:satMod val="130000"/>
                <a:tint val="98000"/>
                <a:shade val="90000"/>
              </a:schemeClr>
            </a:gs>
            <a:gs pos="100000">
              <a:schemeClr val="phClr">
                <a:satMod val="120000"/>
                <a:shade val="63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102000"/>
                <a:satMod val="103000"/>
                <a:tint val="94000"/>
              </a:schemeClr>
            </a:gs>
            <a:gs pos="50000">
              <a:schemeClr val="phClr">
                <a:lumMod val="100000"/>
                <a:satMod val="11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lumMod val="102000"/>
                <a:satMod val="150000"/>
                <a:tint val="93000"/>
                <a:shade val="98000"/>
              </a:schemeClr>
            </a:gs>
            <a:gs pos="50000">
              <a:schemeClr val="phClr">
                <a:lumMod val="103000"/>
                <a:satMod val="130000"/>
                <a:tint val="98000"/>
                <a:shade val="90000"/>
              </a:schemeClr>
            </a:gs>
            <a:gs pos="100000">
              <a:schemeClr val="phClr">
                <a:satMod val="120000"/>
                <a:shade val="63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mitype="http://purl.org/dcmitype/" xmlns:dcterms="http://purl.org/dc/terms/" xmlns:xsi="http://www.w3.org/2001/XMLSchema-instance">
  <dc:title>Кибербезопасность и защита персональных данных Презентер Иван Петров Дата 29.09.2026 Обзор фиш</dc:title>
  <dc:subject>Generated by Presenton export-core</dc:subject>
  <dc:creator>Presenton</dc:creator>
  <cp:lastModifiedBy>Presenton</cp:lastModifiedBy>
  <dcterms:created xsi:type="dcterms:W3CDTF">2026-09-29T05:19:10.722Z</dcterms:created>
  <dcterms:modified xsi:type="dcterms:W3CDTF">2026-09-29T05:19:10.722Z</dcterms:modified>
</cp:coreProperties>
</file>